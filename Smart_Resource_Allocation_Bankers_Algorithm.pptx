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37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55480" y="0"/>
            <a:ext cx="2633472" cy="6858000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201168" cy="6858000"/>
          </a:xfrm>
          <a:prstGeom prst="rect">
            <a:avLst/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58368"/>
            <a:ext cx="7132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AB99"/>
                </a:solidFill>
                <a:latin typeface="Aptos"/>
              </a:rPr>
              <a:t>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7680960" cy="2240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Smart Resource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Allocation Using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Banker’s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03320"/>
            <a:ext cx="71323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EE2F2"/>
                </a:solidFill>
                <a:latin typeface="Aptos"/>
              </a:rPr>
              <a:t>A safe resource-allocation approach to avoid deadlock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434840"/>
            <a:ext cx="6903720" cy="1353312"/>
          </a:xfrm>
          <a:prstGeom prst="roundRect">
            <a:avLst>
              <a:gd name="adj" fmla="val 12000"/>
            </a:avLst>
          </a:prstGeom>
          <a:solidFill>
            <a:srgbClr val="1D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590288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0AB99"/>
                </a:solidFill>
                <a:latin typeface="Aptos"/>
              </a:rP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846320"/>
            <a:ext cx="585216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Srija  –  2520090053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Praveena  –  2520090057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Akshitha Reddy  –  2520090178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3200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6CADC"/>
                </a:solidFill>
                <a:latin typeface="Aptos"/>
              </a:rPr>
              <a:t>Department: CSIT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Abstract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7899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0273D"/>
                </a:solidFill>
                <a:latin typeface="Aptos"/>
              </a:rPr>
              <a:t>Banker’s Algorithm is a deadlock-avoidance method used by an operating system when processes request resources. Before granting a request, the system checks whether the allocation will leave the system in a safe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43200"/>
            <a:ext cx="82296" cy="1965960"/>
          </a:xfrm>
          <a:prstGeom prst="rect">
            <a:avLst/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11830"/>
                </a:solidFill>
                <a:latin typeface="Aptos"/>
              </a:rPr>
              <a:t>Checks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364992"/>
            <a:ext cx="308152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Compares a process request with its remaining need and available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74320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2743200"/>
            <a:ext cx="82296" cy="1965960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907792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11830"/>
                </a:solidFill>
                <a:latin typeface="Aptos"/>
              </a:rPr>
              <a:t>Avoids unsafe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364992"/>
            <a:ext cx="308152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Grants a request only when a safe sequence can still be found.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274320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2743200"/>
            <a:ext cx="82296" cy="196596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907792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11830"/>
                </a:solidFill>
                <a:latin typeface="Aptos"/>
              </a:rPr>
              <a:t>Shows safe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364992"/>
            <a:ext cx="3081528" cy="12344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Finds an order in which all processes can finish and release resources.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57800"/>
            <a:ext cx="102412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74191"/>
                </a:solidFill>
                <a:latin typeface="Aptos"/>
              </a:rPr>
              <a:t>Main idea: check first, allocate only if the state remains safe.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Problem Statement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7899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0273D"/>
                </a:solidFill>
                <a:latin typeface="Aptos"/>
              </a:rPr>
              <a:t>When several processes share limited resources, a process may hold some resources while waiting for others. If resources are allocated without checking future needs, processes can become stuck in a deadlock.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5486400" cy="297180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C505F"/>
                </a:solidFill>
                <a:latin typeface="Aptos"/>
              </a:rPr>
              <a:t>WHY THIS IS A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19272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DC5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4480560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0273D"/>
                </a:solidFill>
                <a:latin typeface="Aptos"/>
              </a:rPr>
              <a:t>Resources are limited and shared.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95344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DC5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22191"/>
            <a:ext cx="4480560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0273D"/>
                </a:solidFill>
                <a:latin typeface="Aptos"/>
              </a:rPr>
              <a:t>Processes may request more resources while running.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71416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DC5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98264"/>
            <a:ext cx="4480560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0273D"/>
                </a:solidFill>
                <a:latin typeface="Aptos"/>
              </a:rPr>
              <a:t>A poor allocation can leave processes waiting indefinitely.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2514600"/>
            <a:ext cx="5029200" cy="2971800"/>
          </a:xfrm>
          <a:prstGeom prst="roundRect">
            <a:avLst>
              <a:gd name="adj" fmla="val 12000"/>
            </a:avLst>
          </a:prstGeom>
          <a:solidFill>
            <a:srgbClr val="11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274320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0AB99"/>
                </a:solidFill>
                <a:latin typeface="Aptos"/>
              </a:rPr>
              <a:t>PROPOSED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246120"/>
            <a:ext cx="4251960" cy="1600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Use Banker’s Algorithm to test each resource request. Grant it only if the system can still complete every process in some safe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Objectives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834640" cy="4526280"/>
          </a:xfrm>
          <a:prstGeom prst="roundRect">
            <a:avLst>
              <a:gd name="adj" fmla="val 12000"/>
            </a:avLst>
          </a:prstGeom>
          <a:solidFill>
            <a:srgbClr val="11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0116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20AB99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KEY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57600"/>
            <a:ext cx="20116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1E5F2"/>
                </a:solidFill>
                <a:latin typeface="Aptos"/>
              </a:rPr>
              <a:t>Understand resource allocation and identify safe system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5544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1581912"/>
            <a:ext cx="438912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536192"/>
            <a:ext cx="649224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0273D"/>
                </a:solidFill>
                <a:latin typeface="Aptos"/>
              </a:rPr>
              <a:t>Represent allocated, maximum, and available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386584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414015"/>
            <a:ext cx="438912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68296"/>
            <a:ext cx="649224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0273D"/>
                </a:solidFill>
                <a:latin typeface="Aptos"/>
              </a:rPr>
              <a:t>Calculate the remaining need of every process.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21868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3246120"/>
            <a:ext cx="438912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00400"/>
            <a:ext cx="649224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0273D"/>
                </a:solidFill>
                <a:latin typeface="Aptos"/>
              </a:rPr>
              <a:t>Check whether a safe sequence exists.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405079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4078224"/>
            <a:ext cx="438912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32504"/>
            <a:ext cx="649224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0273D"/>
                </a:solidFill>
                <a:latin typeface="Aptos"/>
              </a:rPr>
              <a:t>Decide whether a request can be granted safely.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882896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4910328"/>
            <a:ext cx="438912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864608"/>
            <a:ext cx="649224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0273D"/>
                </a:solidFill>
                <a:latin typeface="Aptos"/>
              </a:rPr>
              <a:t>Demonstrate deadlock avoidance with an example.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Existing Approach vs Proposed System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4983480" cy="566928"/>
          </a:xfrm>
          <a:prstGeom prst="roundRect">
            <a:avLst>
              <a:gd name="adj" fmla="val 12000"/>
            </a:avLst>
          </a:prstGeom>
          <a:solidFill>
            <a:srgbClr val="5D6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WITHOUT A SAFETY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17320"/>
            <a:ext cx="4983480" cy="566928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536192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WITH BANKER’S ALGORITHM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12848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22576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Request may be granted immediately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2" y="2304288"/>
            <a:ext cx="5669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7755D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12848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E7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2322576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Request is checked before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17520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27248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Future resource needs may be ignored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3108960"/>
            <a:ext cx="5669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7755D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017520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E7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3127248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Maximum need is considered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22191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31920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Unsafe allocation may cause deadlock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913631"/>
            <a:ext cx="5669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7755D2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822191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E7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3931920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Unsafe requests are delayed or denied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626864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736592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No safe sequence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4718304"/>
            <a:ext cx="56692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7755D2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626864"/>
            <a:ext cx="4983480" cy="594360"/>
          </a:xfrm>
          <a:prstGeom prst="roundRect">
            <a:avLst>
              <a:gd name="adj" fmla="val 12000"/>
            </a:avLst>
          </a:prstGeom>
          <a:solidFill>
            <a:srgbClr val="E7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4736592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Safe sequence is searched for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Tools and Technologies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166360" cy="166420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82296" cy="1664208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73351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C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30552"/>
            <a:ext cx="481888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Can be used to implement process and resource-allocation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508760"/>
            <a:ext cx="5166360" cy="166420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508760"/>
            <a:ext cx="82296" cy="1664208"/>
          </a:xfrm>
          <a:prstGeom prst="rect">
            <a:avLst/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73351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130552"/>
            <a:ext cx="481888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Can be used for a simple interface or demonstration.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93591"/>
            <a:ext cx="5166360" cy="166420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93591"/>
            <a:ext cx="82296" cy="1664208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758183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VS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15383"/>
            <a:ext cx="481888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Editor for writing, organizing, and testing the program.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593591"/>
            <a:ext cx="5166360" cy="166420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3593591"/>
            <a:ext cx="82296" cy="1664208"/>
          </a:xfrm>
          <a:prstGeom prst="rect">
            <a:avLst/>
          </a:prstGeom>
          <a:solidFill>
            <a:srgbClr val="37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758183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Compiler /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215383"/>
            <a:ext cx="481888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Runs the implementation and helps test sample inputs.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97880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74191"/>
                </a:solidFill>
                <a:latin typeface="Aptos"/>
              </a:rPr>
              <a:t>Core concept: matrices, vectors, comparisons, and safe-sequence checking.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System Architecture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82296" cy="2057400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213969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87752"/>
            <a:ext cx="2139696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Enter processes, resource types, Allocation and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3" y="2697480"/>
            <a:ext cx="347472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7755D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9659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965960"/>
            <a:ext cx="82296" cy="2057400"/>
          </a:xfrm>
          <a:prstGeom prst="rect">
            <a:avLst/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30552"/>
            <a:ext cx="213969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Need 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87752"/>
            <a:ext cx="2139696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Need = Max −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697480"/>
            <a:ext cx="347472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7755D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19659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9944" y="1965960"/>
            <a:ext cx="82296" cy="205740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2130552"/>
            <a:ext cx="213969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Safety Checker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587752"/>
            <a:ext cx="2139696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Search for a process whose Need ≤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2697480"/>
            <a:ext cx="347472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7755D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19659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17736" y="1965960"/>
            <a:ext cx="82296" cy="2057400"/>
          </a:xfrm>
          <a:prstGeom prst="rect">
            <a:avLst/>
          </a:prstGeom>
          <a:solidFill>
            <a:srgbClr val="37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2130552"/>
            <a:ext cx="2139696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587752"/>
            <a:ext cx="2139696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Safe sequence found? Grant or delay request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4709160"/>
            <a:ext cx="9601200" cy="841248"/>
          </a:xfrm>
          <a:prstGeom prst="roundRect">
            <a:avLst>
              <a:gd name="adj" fmla="val 12000"/>
            </a:avLst>
          </a:prstGeom>
          <a:solidFill>
            <a:srgbClr val="11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72768" y="4910328"/>
            <a:ext cx="9052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Output: safe sequence (for example, P1 → P3 → P4 → P0 → P2) or an unsafe-state message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Working Methodology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29000" cy="175564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61848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45920"/>
            <a:ext cx="4389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00200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Read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94560"/>
            <a:ext cx="29718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73D"/>
                </a:solidFill>
                <a:latin typeface="Aptos"/>
              </a:rPr>
              <a:t>Get Allocation, Max, and Available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417320"/>
            <a:ext cx="3429000" cy="175564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161848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645920"/>
            <a:ext cx="4389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1600200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Calculate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194560"/>
            <a:ext cx="29718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73D"/>
                </a:solidFill>
                <a:latin typeface="Aptos"/>
              </a:rPr>
              <a:t>For each process, Need = Max − Allocation.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417320"/>
            <a:ext cx="3429000" cy="175564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61848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20"/>
            <a:ext cx="4389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1600200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Set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29718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73D"/>
                </a:solidFill>
                <a:latin typeface="Aptos"/>
              </a:rPr>
              <a:t>Copy Available into a temporary Work vector.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566160"/>
            <a:ext cx="3429000" cy="175564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376732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794760"/>
            <a:ext cx="4389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749040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Find a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343400"/>
            <a:ext cx="29718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73D"/>
                </a:solidFill>
                <a:latin typeface="Aptos"/>
              </a:rPr>
              <a:t>Choose an unfinished process with Need ≤ 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566160"/>
            <a:ext cx="3429000" cy="1755648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26864" y="376732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794760"/>
            <a:ext cx="4389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3749040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1830"/>
                </a:solidFill>
                <a:latin typeface="Aptos"/>
              </a:rPr>
              <a:t>Release 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343400"/>
            <a:ext cx="29718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73D"/>
                </a:solidFill>
                <a:latin typeface="Aptos"/>
              </a:rPr>
              <a:t>Add its Allocation to Work and mark it finished.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3566160"/>
            <a:ext cx="3429000" cy="1755648"/>
          </a:xfrm>
          <a:prstGeom prst="roundRect">
            <a:avLst>
              <a:gd name="adj" fmla="val 12000"/>
            </a:avLst>
          </a:prstGeom>
          <a:solidFill>
            <a:srgbClr val="11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94192" y="376732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794760"/>
            <a:ext cx="4389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3749040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Repeat and 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343400"/>
            <a:ext cx="29718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1E5F2"/>
                </a:solidFill>
                <a:latin typeface="Aptos"/>
              </a:rPr>
              <a:t>If all finish, state is safe; otherwise, unsafe.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Important Data and Formulas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82296" cy="1234440"/>
          </a:xfrm>
          <a:prstGeom prst="rect">
            <a:avLst/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45920"/>
            <a:ext cx="4773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03120"/>
            <a:ext cx="477316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Resources that are free at the current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1481328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7" y="1481328"/>
            <a:ext cx="82296" cy="1234440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5" y="1645920"/>
            <a:ext cx="4773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5" y="2103120"/>
            <a:ext cx="477316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Maximum number of each resource a process may need.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81528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081528"/>
            <a:ext cx="82296" cy="1234440"/>
          </a:xfrm>
          <a:prstGeom prst="rect">
            <a:avLst/>
          </a:prstGeom>
          <a:solidFill>
            <a:srgbClr val="F4A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246120"/>
            <a:ext cx="4773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703320"/>
            <a:ext cx="477316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Resources already assigned to each process.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081528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3081528"/>
            <a:ext cx="82296" cy="1234440"/>
          </a:xfrm>
          <a:prstGeom prst="rect">
            <a:avLst/>
          </a:prstGeom>
          <a:solidFill>
            <a:srgbClr val="37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5" y="3246120"/>
            <a:ext cx="4773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1830"/>
                </a:solidFill>
                <a:latin typeface="Aptos"/>
              </a:rPr>
              <a:t>Need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5" y="3703320"/>
            <a:ext cx="4773168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D"/>
                </a:solidFill>
                <a:latin typeface="Aptos"/>
              </a:rPr>
              <a:t>Resources still required to finish a process.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11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149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Need[i][j] = Max[i][j] − Allocation[i][j]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Banker’s Algorithm: Safety Check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6400800" cy="452628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764792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691640"/>
            <a:ext cx="553212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1. Work = Available; mark every process as unfinished.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377440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04288"/>
            <a:ext cx="553212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2. Find an unfinished process i where Need[i] ≤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990088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916936"/>
            <a:ext cx="553212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3. If found, set Work = Work + Allocation[i].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602736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529584"/>
            <a:ext cx="553212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4. Mark process i as finished and add it to the safe sequence.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215384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142232"/>
            <a:ext cx="553212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5. Repeat until no eligible process remains.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828032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754880"/>
            <a:ext cx="553212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D"/>
                </a:solidFill>
                <a:latin typeface="Aptos"/>
              </a:rPr>
              <a:t>6. If all processes finish, the state is SAFE; otherwise, UNSAFE.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417320"/>
            <a:ext cx="4114800" cy="4526280"/>
          </a:xfrm>
          <a:prstGeom prst="roundRect">
            <a:avLst>
              <a:gd name="adj" fmla="val 12000"/>
            </a:avLst>
          </a:prstGeom>
          <a:solidFill>
            <a:srgbClr val="11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737360"/>
            <a:ext cx="34747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0AB99"/>
                </a:solidFill>
                <a:latin typeface="Aptos"/>
              </a:rPr>
              <a:t>REQUEST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240280"/>
            <a:ext cx="3383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For a new request by process Pi: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338328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2E6F4"/>
                </a:solidFill>
                <a:latin typeface="Aptos"/>
              </a:rPr>
              <a:t>• Request ≤ Need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2E6F4"/>
                </a:solidFill>
                <a:latin typeface="Aptos"/>
              </a:rPr>
              <a:t>• Request ≤ Available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2E6F4"/>
                </a:solidFill>
                <a:latin typeface="Aptos"/>
              </a:rPr>
              <a:t>• Pretend to allocate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2E6F4"/>
                </a:solidFill>
                <a:latin typeface="Aptos"/>
              </a:rPr>
              <a:t>• Run the safety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983480"/>
            <a:ext cx="33375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0AB99"/>
                </a:solidFill>
                <a:latin typeface="Aptos"/>
              </a:rPr>
              <a:t>Grant only if the resulting state is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Example: Finding a Safe Sequence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D667F"/>
                </a:solidFill>
                <a:latin typeface="Aptos"/>
              </a:rPr>
              <a:t>Illustrative example with three processes and two resource types. Values below are sample values for explaining the method.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74519"/>
          <a:ext cx="69951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011680"/>
                <a:gridCol w="1828800"/>
                <a:gridCol w="182880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Process</a:t>
                      </a:r>
                    </a:p>
                  </a:txBody>
                  <a:tcPr marL="73152" marR="45720"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Allocation (A,B)</a:t>
                      </a:r>
                    </a:p>
                  </a:txBody>
                  <a:tcPr marL="73152" marR="45720"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Max (A,B)</a:t>
                      </a:r>
                    </a:p>
                  </a:txBody>
                  <a:tcPr marL="73152" marR="45720"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Need (A,B)</a:t>
                      </a:r>
                    </a:p>
                  </a:txBody>
                  <a:tcPr marL="73152" marR="45720">
                    <a:solidFill>
                      <a:srgbClr val="11183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P0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1, 0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3, 2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2, 2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P1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1, 1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1, 2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0, 1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P2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1, 0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2, 1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73D"/>
                          </a:solidFill>
                          <a:latin typeface="Aptos"/>
                        </a:rPr>
                        <a:t>1, 1</a:t>
                      </a:r>
                    </a:p>
                  </a:txBody>
                  <a:tcPr marL="73152" marR="45720">
                    <a:solidFill>
                      <a:srgbClr val="E7EB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12480" y="1874519"/>
            <a:ext cx="2971800" cy="2331720"/>
          </a:xfrm>
          <a:prstGeom prst="roundRect">
            <a:avLst>
              <a:gd name="adj" fmla="val 12000"/>
            </a:avLst>
          </a:prstGeom>
          <a:solidFill>
            <a:srgbClr val="F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2176272"/>
            <a:ext cx="2514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74191"/>
                </a:solidFill>
                <a:latin typeface="Aptos"/>
              </a:rPr>
              <a:t>Available = (1,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788920"/>
            <a:ext cx="25146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0273D"/>
                </a:solidFill>
                <a:latin typeface="Aptos"/>
              </a:rPr>
              <a:t>One safe order is: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0273D"/>
                </a:solidFill>
                <a:latin typeface="Aptos"/>
              </a:rPr>
              <a:t>P1 → P2 → P0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E1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828032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89D67"/>
                </a:solidFill>
                <a:latin typeface="Aptos"/>
              </a:rPr>
              <a:t>Why? P1 can finish first; its resources are released. Then P2 can finish, followed by P0.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11830"/>
                </a:solidFill>
                <a:latin typeface="Aptos Display"/>
              </a:rPr>
              <a:t>Testing and Results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D667F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D667F"/>
                </a:solidFill>
                <a:latin typeface="Aptos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1732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7040880"/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 marL="118872" marR="73152"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Expected result</a:t>
                      </a:r>
                    </a:p>
                  </a:txBody>
                  <a:tcPr marL="118872" marR="73152">
                    <a:solidFill>
                      <a:srgbClr val="111830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273D"/>
                          </a:solidFill>
                          <a:latin typeface="Aptos"/>
                        </a:rPr>
                        <a:t>Enter valid resource matrices</a:t>
                      </a:r>
                    </a:p>
                  </a:txBody>
                  <a:tcPr marL="118872" marR="73152">
                    <a:solidFill>
                      <a:srgbClr val="F2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73D"/>
                          </a:solidFill>
                          <a:latin typeface="Aptos"/>
                        </a:rPr>
                        <a:t>Need matrix is calculated correctly.</a:t>
                      </a:r>
                    </a:p>
                  </a:txBody>
                  <a:tcPr marL="118872" marR="73152">
                    <a:solidFill>
                      <a:srgbClr val="F2F4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273D"/>
                          </a:solidFill>
                          <a:latin typeface="Aptos"/>
                        </a:rPr>
                        <a:t>Check a safe state</a:t>
                      </a:r>
                    </a:p>
                  </a:txBody>
                  <a:tcPr marL="11887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73D"/>
                          </a:solidFill>
                          <a:latin typeface="Aptos"/>
                        </a:rPr>
                        <a:t>Program displays a safe sequence.</a:t>
                      </a:r>
                    </a:p>
                  </a:txBody>
                  <a:tcPr marL="118872" marR="7315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273D"/>
                          </a:solidFill>
                          <a:latin typeface="Aptos"/>
                        </a:rPr>
                        <a:t>Check an unsafe state</a:t>
                      </a:r>
                    </a:p>
                  </a:txBody>
                  <a:tcPr marL="118872" marR="73152">
                    <a:solidFill>
                      <a:srgbClr val="F2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73D"/>
                          </a:solidFill>
                          <a:latin typeface="Aptos"/>
                        </a:rPr>
                        <a:t>Program reports that no safe sequence exists.</a:t>
                      </a:r>
                    </a:p>
                  </a:txBody>
                  <a:tcPr marL="118872" marR="73152">
                    <a:solidFill>
                      <a:srgbClr val="F2F4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273D"/>
                          </a:solidFill>
                          <a:latin typeface="Aptos"/>
                        </a:rPr>
                        <a:t>Make a resource request</a:t>
                      </a:r>
                    </a:p>
                  </a:txBody>
                  <a:tcPr marL="11887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73D"/>
                          </a:solidFill>
                          <a:latin typeface="Aptos"/>
                        </a:rPr>
                        <a:t>Request is checked before allocation.</a:t>
                      </a:r>
                    </a:p>
                  </a:txBody>
                  <a:tcPr marL="118872" marR="7315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273D"/>
                          </a:solidFill>
                          <a:latin typeface="Aptos"/>
                        </a:rPr>
                        <a:t>Request exceeds Available or Need</a:t>
                      </a:r>
                    </a:p>
                  </a:txBody>
                  <a:tcPr marL="118872" marR="73152">
                    <a:solidFill>
                      <a:srgbClr val="F2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73D"/>
                          </a:solidFill>
                          <a:latin typeface="Aptos"/>
                        </a:rPr>
                        <a:t>Request is rejected or made to wait.</a:t>
                      </a:r>
                    </a:p>
                  </a:txBody>
                  <a:tcPr marL="118872" marR="73152">
                    <a:solidFill>
                      <a:srgbClr val="F2F4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715000"/>
            <a:ext cx="10515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D667F"/>
                </a:solidFill>
                <a:latin typeface="Aptos"/>
              </a:rPr>
              <a:t>Note: These are planned test cases; enter your program’s actual output before presenting measured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9601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ptos Display"/>
              </a:rPr>
              <a:t>Conclusion and Future Scope</a:t>
            </a:r>
          </a:p>
        </p:txBody>
      </p:sp>
      <p:pic>
        <p:nvPicPr>
          <p:cNvPr id="3" name="Picture 2" descr="kl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46304"/>
            <a:ext cx="1353312" cy="576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051560"/>
            <a:ext cx="914400" cy="50292"/>
          </a:xfrm>
          <a:prstGeom prst="rect">
            <a:avLst/>
          </a:prstGeom>
          <a:solidFill>
            <a:srgbClr val="77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6CADC"/>
                </a:solidFill>
                <a:latin typeface="Aptos"/>
              </a:rPr>
              <a:t>SMART RESOURCE ALLOCATION USING BANKER'S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6CADC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0AB99"/>
                </a:solidFill>
                <a:latin typeface="Aptos"/>
              </a:rPr>
              <a:t>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47672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874519"/>
            <a:ext cx="6355080" cy="6766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Banker’s Algorithm checks resource requests before allocation.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660904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2587752"/>
            <a:ext cx="6355080" cy="6766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It uses Need, Allocation, and Available values to find a safe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374136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20A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300984"/>
            <a:ext cx="6355080" cy="6766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It helps avoid entering an unsafe state that may lead to deadlock.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417320"/>
            <a:ext cx="3657600" cy="3520440"/>
          </a:xfrm>
          <a:prstGeom prst="roundRect">
            <a:avLst>
              <a:gd name="adj" fmla="val 12000"/>
            </a:avLst>
          </a:prstGeom>
          <a:solidFill>
            <a:srgbClr val="1D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719072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A642"/>
                </a:solidFill>
                <a:latin typeface="Aptos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240280"/>
            <a:ext cx="2926080" cy="2148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Add a simple graphical interface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Allow users to change resource values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Show each safety-check step visually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074920"/>
            <a:ext cx="45720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7755D2"/>
                </a:solidFill>
                <a:latin typeface="Aptos Display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870448"/>
            <a:ext cx="6217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DEE2F2"/>
                </a:solidFill>
                <a:latin typeface="Aptos"/>
              </a:rPr>
              <a:t>Srija  •  Praveena  •  Akshitha Reddy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